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6D436-F437-4878-A91F-95EEBF35D055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8D316-D588-466E-AC05-8D6FB131A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0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8D316-D588-466E-AC05-8D6FB131A1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08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8D316-D588-466E-AC05-8D6FB131A1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77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245A6-C6FA-4F40-B602-158621FFF606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45F8B-54E7-4055-B611-8D5337183821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6717" y="6465801"/>
            <a:ext cx="9800706" cy="365125"/>
          </a:xfrm>
        </p:spPr>
        <p:txBody>
          <a:bodyPr/>
          <a:lstStyle>
            <a:lvl1pPr>
              <a:defRPr sz="1400" b="0" u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1" dirty="0"/>
              <a:t>Group 4</a:t>
            </a:r>
            <a:r>
              <a:rPr lang="en-US" dirty="0"/>
              <a:t>: Md. </a:t>
            </a:r>
            <a:r>
              <a:rPr lang="en-US" dirty="0" err="1"/>
              <a:t>Sifur</a:t>
            </a:r>
            <a:r>
              <a:rPr lang="en-US" dirty="0"/>
              <a:t> Rahman (1620018042); MD. </a:t>
            </a:r>
            <a:r>
              <a:rPr lang="en-US" dirty="0" err="1"/>
              <a:t>Rokib</a:t>
            </a:r>
            <a:r>
              <a:rPr lang="en-US" dirty="0"/>
              <a:t> Hasan Oli (2211950642); </a:t>
            </a:r>
            <a:r>
              <a:rPr lang="en-US" dirty="0" err="1"/>
              <a:t>Kazi</a:t>
            </a:r>
            <a:r>
              <a:rPr lang="en-US" dirty="0"/>
              <a:t> </a:t>
            </a:r>
            <a:r>
              <a:rPr lang="en-US" dirty="0" err="1"/>
              <a:t>Eraj</a:t>
            </a:r>
            <a:r>
              <a:rPr lang="en-US" dirty="0"/>
              <a:t> Al </a:t>
            </a:r>
            <a:r>
              <a:rPr lang="en-US" dirty="0" err="1"/>
              <a:t>Minahi</a:t>
            </a:r>
            <a:r>
              <a:rPr lang="en-US" dirty="0"/>
              <a:t> </a:t>
            </a:r>
            <a:r>
              <a:rPr lang="en-US" dirty="0" err="1"/>
              <a:t>Turjo</a:t>
            </a:r>
            <a:r>
              <a:rPr lang="en-US" dirty="0"/>
              <a:t>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0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4A12A-FC40-4EBC-82EA-D53EBE666D98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2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EE1F-79AB-45A9-8CB1-3FBD6DED7507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6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4797-C24E-4C98-A1EF-0D9BE6DA4E88}" type="datetime1">
              <a:rPr lang="en-US" smtClean="0"/>
              <a:t>29-Apr-26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5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5C9FB-CE82-4B73-898A-9ABD5F3B1C91}" type="datetime1">
              <a:rPr lang="en-US" smtClean="0"/>
              <a:t>29-Apr-26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EAA2-3540-41A6-A1A9-7CC9A016C912}" type="datetime1">
              <a:rPr lang="en-US" smtClean="0"/>
              <a:t>29-Apr-26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9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F1A6E-CB6F-4E49-A56A-12498EFDD9AE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8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BF4AB-C6C3-497E-B29F-BD8A0B29692F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31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68AA7-235B-4A1E-AA88-46252C08AA3A}" type="datetime1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8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CE59-4EAC-491A-B0E7-8143D664C636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25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1D316-A4E0-4667-A59B-EF482A23BABB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78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9EEA-BA3E-4876-A0DA-FBA744487397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9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7391A-9322-4587-8EBA-20C03D792976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10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7CA4B-8309-4667-9D28-78700D8E76BC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08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46188-1610-4F4D-81D9-EDA59D6C6BA4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11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85ABF-9E2D-4CB1-92CA-CDE40D21FA04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7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4FEE94-7D16-4DCB-AD06-389030F4BDB9}" type="datetime1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BB69CE-F9C1-4ED3-98B7-F3E665FA0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5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98D0-5E33-4FA8-A749-F3A304971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5124" y="862942"/>
            <a:ext cx="8574622" cy="1998791"/>
          </a:xfrm>
        </p:spPr>
        <p:txBody>
          <a:bodyPr/>
          <a:lstStyle/>
          <a:p>
            <a:r>
              <a:rPr lang="en-US" dirty="0"/>
              <a:t>Image Super-Resolution Using Machine Learning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D2356F0-BBC3-4979-A09F-0BAB306CD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512024"/>
              </p:ext>
            </p:extLst>
          </p:nvPr>
        </p:nvGraphicFramePr>
        <p:xfrm>
          <a:off x="5751743" y="4297368"/>
          <a:ext cx="5789228" cy="1866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614">
                  <a:extLst>
                    <a:ext uri="{9D8B030D-6E8A-4147-A177-3AD203B41FA5}">
                      <a16:colId xmlns:a16="http://schemas.microsoft.com/office/drawing/2014/main" val="1191352025"/>
                    </a:ext>
                  </a:extLst>
                </a:gridCol>
                <a:gridCol w="2894614">
                  <a:extLst>
                    <a:ext uri="{9D8B030D-6E8A-4147-A177-3AD203B41FA5}">
                      <a16:colId xmlns:a16="http://schemas.microsoft.com/office/drawing/2014/main" val="324180370"/>
                    </a:ext>
                  </a:extLst>
                </a:gridCol>
              </a:tblGrid>
              <a:tr h="4681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872290"/>
                  </a:ext>
                </a:extLst>
              </a:tr>
              <a:tr h="4681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Md.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Sifur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Rahman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1620018042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48736"/>
                  </a:ext>
                </a:extLst>
              </a:tr>
              <a:tr h="468194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MD.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Rokib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Hasan Oli</a:t>
                      </a: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2211950642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085595"/>
                  </a:ext>
                </a:extLst>
              </a:tr>
              <a:tr h="461782">
                <a:tc>
                  <a:txBody>
                    <a:bodyPr/>
                    <a:lstStyle/>
                    <a:p>
                      <a:r>
                        <a:rPr lang="it-IT" sz="18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Kazi Eraj Al Minahi Turjo</a:t>
                      </a:r>
                      <a:endParaRPr lang="en-US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1831906642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2666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655400-E8CF-4656-8466-DA5B596A6811}"/>
              </a:ext>
            </a:extLst>
          </p:cNvPr>
          <p:cNvSpPr txBox="1"/>
          <p:nvPr/>
        </p:nvSpPr>
        <p:spPr>
          <a:xfrm>
            <a:off x="5378880" y="2861733"/>
            <a:ext cx="2664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(GROUP –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04)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1604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82E8-8A3C-4C6C-B58F-8A0C862B0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305" y="98765"/>
            <a:ext cx="10607076" cy="860023"/>
          </a:xfrm>
        </p:spPr>
        <p:txBody>
          <a:bodyPr>
            <a:normAutofit/>
          </a:bodyPr>
          <a:lstStyle/>
          <a:p>
            <a:r>
              <a:rPr lang="en-US" sz="44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21269-F9DC-4650-8705-8F42388AF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269508"/>
            <a:ext cx="10367379" cy="4971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Low-resolution images suffer from: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Blur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Loss of details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Poor texture quality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Weak edge sharpness </a:t>
            </a:r>
          </a:p>
          <a:p>
            <a:pPr marL="0" indent="0">
              <a:buNone/>
            </a:pPr>
            <a:r>
              <a:rPr lang="en-US" dirty="0"/>
              <a:t>Traditional methods like: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Nearest Neighbor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Bilinear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Bicubic Interpolation </a:t>
            </a:r>
          </a:p>
          <a:p>
            <a:pPr marL="457200" lvl="1" indent="0">
              <a:buNone/>
            </a:pPr>
            <a:r>
              <a:rPr lang="en-US" dirty="0"/>
              <a:t>cannot recover lost details effectively.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A422D-1C69-4CCD-91E8-F3A1E7D8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</p:spTree>
    <p:extLst>
      <p:ext uri="{BB962C8B-B14F-4D97-AF65-F5344CB8AC3E}">
        <p14:creationId xmlns:p14="http://schemas.microsoft.com/office/powerpoint/2010/main" val="2688918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A421-8EFE-4DA0-B65D-6C850329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87893"/>
          </a:xfrm>
        </p:spPr>
        <p:txBody>
          <a:bodyPr>
            <a:normAutofit/>
          </a:bodyPr>
          <a:lstStyle/>
          <a:p>
            <a:r>
              <a:rPr lang="en-US" sz="4400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247D-0858-4D55-92F9-85B9A93DF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794" y="1651247"/>
            <a:ext cx="10109229" cy="41399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 Goal: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 a machine learning model that can: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LR Image → HR Image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Specifically: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Collect 100 random images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HR-LR paired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 ESPCN model for 4x upscaling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with Bicubic Interpolation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Evaluate using PSNR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D7F9F-A073-4F08-BA0C-877ED65C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9B3A45-A8AC-4F34-84AC-7887064FF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107" y="2667090"/>
            <a:ext cx="4211858" cy="273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4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AC76-3ED2-4897-957A-44A6BF1F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369" y="399496"/>
            <a:ext cx="10018713" cy="781235"/>
          </a:xfrm>
        </p:spPr>
        <p:txBody>
          <a:bodyPr>
            <a:normAutofit/>
          </a:bodyPr>
          <a:lstStyle/>
          <a:p>
            <a:r>
              <a:rPr lang="en-US" sz="4400" b="1" dirty="0"/>
              <a:t>Dataset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681E-4015-4A3F-B573-E6055649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428" y="1651247"/>
            <a:ext cx="10082596" cy="41399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Original Images: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100 random internet images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Standardization: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HR Images: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256 × 256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LR Images: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64 × 64 (4x downscaled)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Final Dataset: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149,490 augmented HR-LR paired samples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Split: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80% Train, 10% Validation, 10% Test.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FF036-A259-4F96-9FAB-ADBD80669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23FA09-B200-4A15-B30F-23785F03C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936" y="1491356"/>
            <a:ext cx="5189064" cy="246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3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36E9-CAEB-431A-B614-BA15C6C8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87893"/>
          </a:xfrm>
        </p:spPr>
        <p:txBody>
          <a:bodyPr>
            <a:normAutofit/>
          </a:bodyPr>
          <a:lstStyle/>
          <a:p>
            <a:r>
              <a:rPr lang="en-US" sz="4400" b="1" dirty="0"/>
              <a:t>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BBA4-6BC0-4840-A877-74052205B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97981"/>
            <a:ext cx="10018713" cy="41932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Horizontal Flip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Vertical Flip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Patch Extraction 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training samples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Better generalization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Reduced overfitting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1F01C-4909-434B-A022-63470806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</p:spTree>
    <p:extLst>
      <p:ext uri="{BB962C8B-B14F-4D97-AF65-F5344CB8AC3E}">
        <p14:creationId xmlns:p14="http://schemas.microsoft.com/office/powerpoint/2010/main" val="336835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02C3-C7B6-45F7-9B09-AFA37E19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08246"/>
            <a:ext cx="10127681" cy="796771"/>
          </a:xfrm>
        </p:spPr>
        <p:txBody>
          <a:bodyPr>
            <a:normAutofit/>
          </a:bodyPr>
          <a:lstStyle/>
          <a:p>
            <a:r>
              <a:rPr lang="en-US" sz="4400" b="1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E376C-9C47-46A2-9D8D-E6926C7C1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242" y="1455938"/>
            <a:ext cx="10289218" cy="4335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ESPCN Model (Efficient Sub-Pixel Convolutional Neural Network)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Convolution Layers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Feature Extraction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PixelShuffle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Layer 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Upscaling Factor: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4×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9E2AE-97DE-406B-85BC-15E547FA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</p:spTree>
    <p:extLst>
      <p:ext uri="{BB962C8B-B14F-4D97-AF65-F5344CB8AC3E}">
        <p14:creationId xmlns:p14="http://schemas.microsoft.com/office/powerpoint/2010/main" val="3973573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FDDF-25A9-45CB-85E8-E34A3FBE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9843596" cy="805649"/>
          </a:xfrm>
        </p:spPr>
        <p:txBody>
          <a:bodyPr>
            <a:normAutofit/>
          </a:bodyPr>
          <a:lstStyle/>
          <a:p>
            <a:r>
              <a:rPr lang="en-US" sz="4400" dirty="0"/>
              <a:t>Why ESPCN?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095A-7453-4ED9-A179-08BDE5E4A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77375"/>
            <a:ext cx="10018713" cy="37138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Compared to Bicubic: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Bicubic: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Fixed mathematical rule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Smooth but blurry 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ESPCN: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Learns from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Recovers sharper textures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Better detail reconstruction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0B900-E477-44B5-AE2A-745B9A5A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</p:spTree>
    <p:extLst>
      <p:ext uri="{BB962C8B-B14F-4D97-AF65-F5344CB8AC3E}">
        <p14:creationId xmlns:p14="http://schemas.microsoft.com/office/powerpoint/2010/main" val="4055746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F1B5-81B5-4ED4-8912-BB0BC4354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73" y="133873"/>
            <a:ext cx="10018713" cy="912181"/>
          </a:xfrm>
        </p:spPr>
        <p:txBody>
          <a:bodyPr>
            <a:normAutofit/>
          </a:bodyPr>
          <a:lstStyle/>
          <a:p>
            <a:r>
              <a:rPr lang="en-US" sz="4400" b="1" dirty="0"/>
              <a:t>Training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BFBDFC-B63F-42AE-9C24-919C0F4FCC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142509"/>
              </p:ext>
            </p:extLst>
          </p:nvPr>
        </p:nvGraphicFramePr>
        <p:xfrm>
          <a:off x="1253493" y="1523187"/>
          <a:ext cx="5537926" cy="3291840"/>
        </p:xfrm>
        <a:graphic>
          <a:graphicData uri="http://schemas.openxmlformats.org/drawingml/2006/table">
            <a:tbl>
              <a:tblPr/>
              <a:tblGrid>
                <a:gridCol w="2768963">
                  <a:extLst>
                    <a:ext uri="{9D8B030D-6E8A-4147-A177-3AD203B41FA5}">
                      <a16:colId xmlns:a16="http://schemas.microsoft.com/office/drawing/2014/main" val="3681710049"/>
                    </a:ext>
                  </a:extLst>
                </a:gridCol>
                <a:gridCol w="2768963">
                  <a:extLst>
                    <a:ext uri="{9D8B030D-6E8A-4147-A177-3AD203B41FA5}">
                      <a16:colId xmlns:a16="http://schemas.microsoft.com/office/drawing/2014/main" val="1984522736"/>
                    </a:ext>
                  </a:extLst>
                </a:gridCol>
              </a:tblGrid>
              <a:tr h="364404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887927"/>
                  </a:ext>
                </a:extLst>
              </a:tr>
              <a:tr h="364404">
                <a:tc>
                  <a:txBody>
                    <a:bodyPr/>
                    <a:lstStyle/>
                    <a:p>
                      <a:r>
                        <a:rPr lang="en-US"/>
                        <a:t>Epochs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7116"/>
                  </a:ext>
                </a:extLst>
              </a:tr>
              <a:tr h="364404">
                <a:tc>
                  <a:txBody>
                    <a:bodyPr/>
                    <a:lstStyle/>
                    <a:p>
                      <a:r>
                        <a:rPr lang="en-US"/>
                        <a:t>Batch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420290"/>
                  </a:ext>
                </a:extLst>
              </a:tr>
              <a:tr h="364404">
                <a:tc>
                  <a:txBody>
                    <a:bodyPr/>
                    <a:lstStyle/>
                    <a:p>
                      <a:r>
                        <a:rPr lang="en-US"/>
                        <a:t>Loss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L1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64544"/>
                  </a:ext>
                </a:extLst>
              </a:tr>
              <a:tr h="364404">
                <a:tc>
                  <a:txBody>
                    <a:bodyPr/>
                    <a:lstStyle/>
                    <a:p>
                      <a:r>
                        <a:rPr lang="en-US"/>
                        <a:t>Optimizer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Adam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855012"/>
                  </a:ext>
                </a:extLst>
              </a:tr>
              <a:tr h="364404">
                <a:tc>
                  <a:txBody>
                    <a:bodyPr/>
                    <a:lstStyle/>
                    <a:p>
                      <a:r>
                        <a:rPr lang="en-US"/>
                        <a:t>Scheduler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CosineAnnealingLR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488533"/>
                  </a:ext>
                </a:extLst>
              </a:tr>
              <a:tr h="364404">
                <a:tc>
                  <a:txBody>
                    <a:bodyPr/>
                    <a:lstStyle/>
                    <a:p>
                      <a:r>
                        <a:rPr lang="en-US"/>
                        <a:t>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PSNR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76240"/>
                  </a:ext>
                </a:extLst>
              </a:tr>
              <a:tr h="364404"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RTX 5060 </a:t>
                      </a:r>
                      <a:r>
                        <a:rPr lang="en-US" dirty="0" err="1"/>
                        <a:t>Ti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81956"/>
                  </a:ext>
                </a:extLst>
              </a:tr>
              <a:tr h="364404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Mixed Precision 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GradScaler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57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E40-8E08-47A0-86C3-B0BD35F6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39EFA9-941F-4EAC-B473-D056C0723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238" y="1277297"/>
            <a:ext cx="4660775" cy="23500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69D73A-5EF6-450C-AA12-13E89AEDC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238" y="3793608"/>
            <a:ext cx="4660775" cy="2477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63D0EE-0E2D-4737-B37F-1BA2E5897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790" y="923774"/>
            <a:ext cx="23050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1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4438-17AC-4085-80CB-494EC6AF6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54223"/>
          </a:xfrm>
        </p:spPr>
        <p:txBody>
          <a:bodyPr>
            <a:normAutofit/>
          </a:bodyPr>
          <a:lstStyle/>
          <a:p>
            <a:r>
              <a:rPr lang="en-US" sz="4400" dirty="0"/>
              <a:t>Evaluation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C7C0F-6B87-4D21-896E-1E72767F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778" y="2159121"/>
            <a:ext cx="10018713" cy="31242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Numerical Evaluation:</a:t>
            </a:r>
          </a:p>
          <a:p>
            <a:pPr marL="0" indent="0">
              <a:buNone/>
            </a:pPr>
            <a:r>
              <a:rPr lang="en-US" b="1" dirty="0"/>
              <a:t>PSNR </a:t>
            </a:r>
            <a:r>
              <a:rPr lang="en-US" dirty="0"/>
              <a:t>(Peak Signal-to-Noise Ratio)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Visual Comparison: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LR Input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Bicubic Output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ESPCN Output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Original HR Image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AF304-A62D-4DE9-9036-15450798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</p:spTree>
    <p:extLst>
      <p:ext uri="{BB962C8B-B14F-4D97-AF65-F5344CB8AC3E}">
        <p14:creationId xmlns:p14="http://schemas.microsoft.com/office/powerpoint/2010/main" val="359395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E3DC-0E4F-440F-A7C6-6356E418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434" y="685801"/>
            <a:ext cx="9950128" cy="938814"/>
          </a:xfrm>
        </p:spPr>
        <p:txBody>
          <a:bodyPr>
            <a:normAutofit/>
          </a:bodyPr>
          <a:lstStyle/>
          <a:p>
            <a:r>
              <a:rPr lang="en-US" sz="4400" dirty="0"/>
              <a:t>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B2B3E2-0B76-47E7-97D2-28A32C7B2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4621496"/>
              </p:ext>
            </p:extLst>
          </p:nvPr>
        </p:nvGraphicFramePr>
        <p:xfrm>
          <a:off x="2242482" y="2438399"/>
          <a:ext cx="7707036" cy="2240136"/>
        </p:xfrm>
        <a:graphic>
          <a:graphicData uri="http://schemas.openxmlformats.org/drawingml/2006/table">
            <a:tbl>
              <a:tblPr/>
              <a:tblGrid>
                <a:gridCol w="1926759">
                  <a:extLst>
                    <a:ext uri="{9D8B030D-6E8A-4147-A177-3AD203B41FA5}">
                      <a16:colId xmlns:a16="http://schemas.microsoft.com/office/drawing/2014/main" val="3741460640"/>
                    </a:ext>
                  </a:extLst>
                </a:gridCol>
                <a:gridCol w="1926759">
                  <a:extLst>
                    <a:ext uri="{9D8B030D-6E8A-4147-A177-3AD203B41FA5}">
                      <a16:colId xmlns:a16="http://schemas.microsoft.com/office/drawing/2014/main" val="3181100367"/>
                    </a:ext>
                  </a:extLst>
                </a:gridCol>
                <a:gridCol w="1926759">
                  <a:extLst>
                    <a:ext uri="{9D8B030D-6E8A-4147-A177-3AD203B41FA5}">
                      <a16:colId xmlns:a16="http://schemas.microsoft.com/office/drawing/2014/main" val="249241111"/>
                    </a:ext>
                  </a:extLst>
                </a:gridCol>
                <a:gridCol w="1926759">
                  <a:extLst>
                    <a:ext uri="{9D8B030D-6E8A-4147-A177-3AD203B41FA5}">
                      <a16:colId xmlns:a16="http://schemas.microsoft.com/office/drawing/2014/main" val="1338667983"/>
                    </a:ext>
                  </a:extLst>
                </a:gridCol>
              </a:tblGrid>
              <a:tr h="37335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Bicubic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ESPCN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951428"/>
                  </a:ext>
                </a:extLst>
              </a:tr>
              <a:tr h="373356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26.96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32.67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+5.71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421013"/>
                  </a:ext>
                </a:extLst>
              </a:tr>
              <a:tr h="373356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24.20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29.95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737416"/>
                  </a:ext>
                </a:extLst>
              </a:tr>
              <a:tr h="373356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21.74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26.66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771129"/>
                  </a:ext>
                </a:extLst>
              </a:tr>
              <a:tr h="373356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37.15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41.46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+4.31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428198"/>
                  </a:ext>
                </a:extLst>
              </a:tr>
              <a:tr h="373356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Blurred scene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22.55 dB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26.36 dB 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+3.81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53225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9A20C6-F0B8-4E63-AFDE-2949561C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</p:spTree>
    <p:extLst>
      <p:ext uri="{BB962C8B-B14F-4D97-AF65-F5344CB8AC3E}">
        <p14:creationId xmlns:p14="http://schemas.microsoft.com/office/powerpoint/2010/main" val="155813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B1F7-6A4E-4CC1-919C-563E6778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82" y="141316"/>
            <a:ext cx="10018712" cy="858915"/>
          </a:xfrm>
        </p:spPr>
        <p:txBody>
          <a:bodyPr>
            <a:normAutofit/>
          </a:bodyPr>
          <a:lstStyle/>
          <a:p>
            <a:r>
              <a:rPr lang="en-US" sz="4400" dirty="0"/>
              <a:t>Visual Output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D260D3-FDA1-45F2-B64F-5B8E95DC0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478" y="1037572"/>
            <a:ext cx="9435221" cy="241187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A606B-ABE5-4A40-9458-B3267207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39A5DB-D2B1-468E-BDE8-6D7865A6A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478" y="3486791"/>
            <a:ext cx="9435223" cy="241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47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B93D4-8455-4B18-9A0D-7030D334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u="sng"/>
              <a:t>Group 4: Md. Sifur Rahman (1620018042); MD. Rokib Hasan Oli (2211950642); Kazi Eraj Al Minahi Turjo (1831906642)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BB8A9-1536-4E8A-83BA-B80AD316A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1213"/>
            <a:ext cx="12192000" cy="2484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2C3AED-1DDC-4F50-B267-1DEBCE8E0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9" y="3429000"/>
            <a:ext cx="12192000" cy="26441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0D4D975-19AE-4C9D-8066-D16D1B1B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82" y="141317"/>
            <a:ext cx="9950127" cy="40256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Visual Output</a:t>
            </a:r>
          </a:p>
        </p:txBody>
      </p:sp>
    </p:spTree>
    <p:extLst>
      <p:ext uri="{BB962C8B-B14F-4D97-AF65-F5344CB8AC3E}">
        <p14:creationId xmlns:p14="http://schemas.microsoft.com/office/powerpoint/2010/main" val="2654027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D532-416E-4571-A423-C3A2FA1D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9816963" cy="75238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DAA0-F8DA-4E32-86F6-06589ABAC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59619"/>
            <a:ext cx="10018713" cy="37315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Small original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PSNR not always reflects visual 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artifacts may appear 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Larger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SSIM metric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with SRCNN / EDSR / ESRGAN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 user interface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CA9FF-093E-4FCE-80E4-6400F17F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</p:spTree>
    <p:extLst>
      <p:ext uri="{BB962C8B-B14F-4D97-AF65-F5344CB8AC3E}">
        <p14:creationId xmlns:p14="http://schemas.microsoft.com/office/powerpoint/2010/main" val="865235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A7B4-837B-4863-A1DD-08AF369B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74324"/>
          </a:xfrm>
        </p:spPr>
        <p:txBody>
          <a:bodyPr>
            <a:normAutofit/>
          </a:bodyPr>
          <a:lstStyle/>
          <a:p>
            <a:r>
              <a:rPr lang="en-US" sz="44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AD700-B9E0-4CE4-B78D-C8D142C93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44211"/>
            <a:ext cx="10109927" cy="38469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ESPCN successfully improved: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Sharpness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Texture 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Edge reconstruction </a:t>
            </a:r>
          </a:p>
          <a:p>
            <a:r>
              <a:rPr lang="en-US" dirty="0"/>
              <a:t>and outperformed Bicubic Interpolation</a:t>
            </a:r>
            <a:br>
              <a:rPr lang="en-US" dirty="0"/>
            </a:br>
            <a:r>
              <a:rPr lang="en-US" dirty="0"/>
              <a:t>in many test cases.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BD2F0-8892-47D5-AE6E-36F74FDC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4: Md. Sifur Rahman (1620018042); MD. Rokib Hasan Oli (2211950642); Kazi Eraj Al Minahi Turjo (1831906642)</a:t>
            </a:r>
          </a:p>
        </p:txBody>
      </p:sp>
    </p:spTree>
    <p:extLst>
      <p:ext uri="{BB962C8B-B14F-4D97-AF65-F5344CB8AC3E}">
        <p14:creationId xmlns:p14="http://schemas.microsoft.com/office/powerpoint/2010/main" val="3449729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7562-085A-4C20-AD22-DD7C1A65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33FA8-4F04-4EC9-8375-92388C03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636" y="2533834"/>
            <a:ext cx="2794727" cy="1523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Thank you.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2763F-9EE2-4AB2-84CA-78F334F3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Group 4</a:t>
            </a:r>
            <a:r>
              <a:rPr lang="en-US"/>
              <a:t>: Md. Sifur Rahman (1620018042); MD. Rokib Hasan Oli (2211950642); Kazi Eraj Al Minahi Turjo (1831906642)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46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139</TotalTime>
  <Words>743</Words>
  <Application>Microsoft Office PowerPoint</Application>
  <PresentationFormat>Widescreen</PresentationFormat>
  <Paragraphs>155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Corbel</vt:lpstr>
      <vt:lpstr>Parallax</vt:lpstr>
      <vt:lpstr>Image Super-Resolution Using Machine Learning</vt:lpstr>
      <vt:lpstr>Problem Statement</vt:lpstr>
      <vt:lpstr>Project Objective</vt:lpstr>
      <vt:lpstr>Dataset Preparation</vt:lpstr>
      <vt:lpstr>Data Augmentation</vt:lpstr>
      <vt:lpstr>Model Architecture</vt:lpstr>
      <vt:lpstr>Why ESPCN?</vt:lpstr>
      <vt:lpstr>Training Setup</vt:lpstr>
      <vt:lpstr>Evaluation Method</vt:lpstr>
      <vt:lpstr>Results</vt:lpstr>
      <vt:lpstr>Visual Output</vt:lpstr>
      <vt:lpstr>Visual Output</vt:lpstr>
      <vt:lpstr>Limitations &amp; Future Work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Super-Resolution Using Machine Learning</dc:title>
  <dc:creator>Razib Rahman</dc:creator>
  <cp:lastModifiedBy>Razib Rahman</cp:lastModifiedBy>
  <cp:revision>21</cp:revision>
  <dcterms:created xsi:type="dcterms:W3CDTF">2026-04-29T00:30:08Z</dcterms:created>
  <dcterms:modified xsi:type="dcterms:W3CDTF">2026-04-29T15:36:25Z</dcterms:modified>
</cp:coreProperties>
</file>