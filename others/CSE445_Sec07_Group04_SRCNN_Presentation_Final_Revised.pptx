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r_project/CSE445_Sec7_Group04_SuperResolution/data/evaluation_set/source_images/night_car.png">    </p:cNvPr>
          <p:cNvPicPr>
            <a:picLocks noChangeAspect="1"/>
          </p:cNvPicPr>
          <p:nvPr/>
        </p:nvPicPr>
        <p:blipFill>
          <a:blip r:embed="rId1"/>
          <a:srcRect l="14000" r="-3459" t="0" b="0"/>
          <a:stretch/>
        </p:blipFill>
        <p:spPr>
          <a:xfrm>
            <a:off x="6446520" y="0"/>
            <a:ext cx="574243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99632" y="475488"/>
            <a:ext cx="0" cy="539496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868680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Efficient Single-Image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Super-Resolution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Using SRCNN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85800" y="2971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DD3FC"/>
                </a:solidFill>
              </a:rPr>
              <a:t>CSE445 Machine Learning • Section 07 • Group 04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85800" y="3493008"/>
            <a:ext cx="5074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Project objective: reconstruct 256×256 images from 64×64 low-resolution inputs at 4× scale.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4434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DD3FC"/>
                </a:solidFill>
              </a:rPr>
              <a:t>Members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477316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8FAFC"/>
                </a:solidFill>
              </a:rPr>
              <a:t>Kazi Eraj Al Minahi Turjo — 1831906642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F8FAFC"/>
                </a:solidFill>
              </a:rPr>
              <a:t>Shamira Hossain Mila — 2111089642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F8FAFC"/>
                </a:solidFill>
              </a:rPr>
              <a:t>Salman Khan Fahim — 2031558642</a:t>
            </a:r>
            <a:endParaRPr lang="en-US" sz="1270" dirty="0"/>
          </a:p>
        </p:txBody>
      </p:sp>
      <p:sp>
        <p:nvSpPr>
          <p:cNvPr id="9" name="Shape 6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04 | Kazi Eraj Al Minahi Turjo • Shamira Hossain Mila • Salman Khan Fahim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9509760" y="6519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CSE445 • Section 07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problem are we solving?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Low-resolution inputs lose local details; super-resolution tries to recover a sharper high-resolution image.</a:t>
            </a:r>
            <a:endParaRPr lang="en-US" sz="1280" dirty="0"/>
          </a:p>
        </p:txBody>
      </p:sp>
      <p:pic>
        <p:nvPicPr>
          <p:cNvPr id="4" name="Image 0" descr="/mnt/data/sr_project/CSE445_Sec7_Group04_SuperResolution/support/presentation_ready/0102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9860" y="1234440"/>
            <a:ext cx="896180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43434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a supervised mapping from 64×64 LR input to 256×256 HR output using paired examples.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526280" y="4005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26280" y="4343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Bicubic interpolation performs fixed mathematical resizing without learning image structure.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046720" y="4005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0" y="4343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SRCNN output is compared against the HR reference using PSNR, then visually inspected.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04 | Kazi Eraj Al Minahi Turjo • Shamira Hossain Mila • Salman Khan Fahim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9509760" y="6519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CSE445 • Section 07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implementation is built as a small, reproducible image-restoration pipeline.</a:t>
            </a:r>
            <a:endParaRPr lang="en-US" sz="128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41732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HR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256×256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31720" y="20482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88920" y="1874520"/>
            <a:ext cx="141732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Downscale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64×64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3400" y="20482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00600" y="1874520"/>
            <a:ext cx="141732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06B6D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Bicubic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256×256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0482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12280" y="1874520"/>
            <a:ext cx="141732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SRCNN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refinement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66760" y="20482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823960" y="1874520"/>
            <a:ext cx="150876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PSNR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comparison</a:t>
            </a:r>
            <a:endParaRPr lang="en-US" sz="1400" dirty="0"/>
          </a:p>
        </p:txBody>
      </p:sp>
      <p:pic>
        <p:nvPicPr>
          <p:cNvPr id="13" name="Image 0" descr="/mnt/data/sr_project/CSE445_Sec7_Group04_SuperResolution/support/degradation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311524"/>
            <a:ext cx="5486400" cy="169799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3364992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the network does not create a new scene. It learns how to improve a resized image by restoring texture and edge-like patterns from training examples.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903720" y="46634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both numerical score and visual inspection are needed.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04 | Kazi Eraj Al Minahi Turjo • Shamira Hossain Mila • Salman Khan Fahim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9509760" y="6519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CSE445 • Section 07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preprocessing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fixed paired dataset was used for training, validation and final testing.</a:t>
            </a:r>
            <a:endParaRPr lang="en-US" sz="1280" dirty="0"/>
          </a:p>
        </p:txBody>
      </p:sp>
      <p:pic>
        <p:nvPicPr>
          <p:cNvPr id="4" name="Image 0" descr="/mnt/data/sr_project/CSE445_Sec7_Group04_SuperResolution/data/evaluation_set/source_images/maca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143000"/>
            <a:ext cx="3401568" cy="34015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split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49808" y="1764792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training images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validation images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test images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84048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sizes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58768" y="1764792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target: 256×256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 input: 64×64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factor: ×4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3152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patches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" y="37581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32×32 LR patches paired with 128×128 HR patches.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3152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Augmentation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9808" y="498348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Horizontal flips, vertical flips and 90° rotations increase variation without changing the target relationship.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818120" y="46817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</a:rPr>
              <a:t>New evaluation/demo images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27264" y="502920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Used for presentation-facing comparison and generalization analysis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04 | Kazi Eraj Al Minahi Turjo • Shamira Hossain Mila • Salman Khan Fahim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9509760" y="6519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CSE445 • Section 07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SRCNN model used in the project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shallow CNN refines the bicubic-upscaled input into the final 256×256 output.</a:t>
            </a:r>
            <a:endParaRPr lang="en-US" sz="128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2344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LR input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64×64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984248" y="20574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423160" y="1874520"/>
            <a:ext cx="150876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06B6D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Bicubic ×4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256×256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95928" y="20574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434840" y="1874520"/>
            <a:ext cx="164592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Conv 9×9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3 → 64 + ReLU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44768" y="20574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173736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Conv 5×5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64 → 32 + ReLU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94192" y="20574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823960" y="1874520"/>
            <a:ext cx="141732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Conv 5×5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32 →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87000" y="20574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771632" y="1874520"/>
            <a:ext cx="1207008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SRCNN output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256×256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08736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layer captures local patches such as edges, corners and color transitions.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8056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Non-linear mapping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40873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layer maps low-resolution features into richer high-resolution representations.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04672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0" y="408736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layer produces the RGB image used for evaluation and comparison.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749040" y="52120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size: 69,251 trainable parameters</a:t>
            </a:r>
            <a:endParaRPr lang="en-US" sz="1850" dirty="0"/>
          </a:p>
        </p:txBody>
      </p:sp>
      <p:sp>
        <p:nvSpPr>
          <p:cNvPr id="22" name="Shape 2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04 | Kazi Eraj Al Minahi Turjo • Shamira Hossain Mila • Salman Khan Fahim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9509760" y="6519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CSE445 • Section 07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setup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was trained with a simple reproducible configuration and checkpoint selection.</a:t>
            </a:r>
            <a:endParaRPr lang="en-US" sz="1280" dirty="0"/>
          </a:p>
        </p:txBody>
      </p:sp>
      <p:pic>
        <p:nvPicPr>
          <p:cNvPr id="4" name="Image 0" descr="/mnt/data/sr_project/CSE445_Sec7_Group04_SuperResolution/support/training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431920"/>
            <a:ext cx="5166360" cy="2028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7240" y="17830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Loss: Mean Squared Error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Optimizer: Adam, learning rate 1e−4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Scheduler: StepLR, step 30, gamma 0.5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Epochs: 100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size: 16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behavior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44165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largest improvement happens in the early epochs. Later epochs mostly refine the learned filters, so validation PSNR stabilizes.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0" y="4315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</a:rPr>
              <a:t>Best validation PSNR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098280" y="4160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2563EB"/>
                </a:solidFill>
              </a:rPr>
              <a:t>22.36 dB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6400800" y="4864608"/>
            <a:ext cx="4526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04 | Kazi Eraj Al Minahi Turjo • Shamira Hossain Mila • Salman Khan Fahim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9509760" y="6519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CSE445 • Section 07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Quantitative result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fixed project test set, SRCNN improves average PSNR over bicubic interpolation.</a:t>
            </a:r>
            <a:endParaRPr lang="en-US" sz="128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64748B"/>
                </a:solidFill>
              </a:rPr>
              <a:t>Bicubic ×4</a:t>
            </a:r>
            <a:endParaRPr lang="en-US" sz="1280" dirty="0"/>
          </a:p>
        </p:txBody>
      </p:sp>
      <p:sp>
        <p:nvSpPr>
          <p:cNvPr id="5" name="Text 3"/>
          <p:cNvSpPr/>
          <p:nvPr/>
        </p:nvSpPr>
        <p:spPr>
          <a:xfrm>
            <a:off x="822960" y="176479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</a:rPr>
              <a:t>23.05 dB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3865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average test PSNR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2743200"/>
            <a:ext cx="269748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417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64748B"/>
                </a:solidFill>
              </a:rPr>
              <a:t>SRCNN ×4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4434840" y="176479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24.07 dB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34840" y="23865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average test PSNR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2743200"/>
            <a:ext cx="26974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417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64748B"/>
                </a:solidFill>
              </a:rPr>
              <a:t>Improvement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8046720" y="176479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</a:rPr>
              <a:t>+1.02 dB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46720" y="23865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average PSNR gain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2743200"/>
            <a:ext cx="269748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93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72A"/>
                </a:solidFill>
              </a:rPr>
              <a:t>Per-image PSNR gain (dB)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" y="5004681"/>
            <a:ext cx="438912" cy="5195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5184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0100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1444752" y="4776893"/>
            <a:ext cx="438912" cy="27973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9888" y="5184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0101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2066544" y="4517136"/>
            <a:ext cx="438912" cy="5394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5184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0102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2688336" y="4808863"/>
            <a:ext cx="438912" cy="24776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5184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0103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310128" y="4772897"/>
            <a:ext cx="438912" cy="28373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55264" y="5184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0104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3931920" y="4629031"/>
            <a:ext cx="438912" cy="42760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77056" y="5184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0105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4553712" y="4936744"/>
            <a:ext cx="438912" cy="119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8848" y="5184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0106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5175504" y="4005614"/>
            <a:ext cx="438912" cy="105101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5184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0107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797296" y="4696968"/>
            <a:ext cx="438912" cy="3596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42432" y="5184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0108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6419088" y="4337304"/>
            <a:ext cx="438912" cy="7193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5184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0109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8046720" y="3858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A34A"/>
                </a:solidFill>
              </a:rPr>
              <a:t>Strongest gain: image 0107 → +2.63 dB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8046720" y="43434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</a:rPr>
              <a:t>All ten project-test images improved over bicubic in PSNR, which supports the model’s usefulness inside the trained distribution.</a:t>
            </a:r>
            <a:endParaRPr lang="en-US" sz="1630" dirty="0"/>
          </a:p>
        </p:txBody>
      </p:sp>
      <p:sp>
        <p:nvSpPr>
          <p:cNvPr id="39" name="Shape 3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04 | Kazi Eraj Al Minahi Turjo • Shamira Hossain Mila • Salman Khan Fahim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9509760" y="6519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CSE445 • Section 07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 result from the project test set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example shows why the learned model is useful inside the trained distribution.</a:t>
            </a:r>
            <a:endParaRPr lang="en-US" sz="1280" dirty="0"/>
          </a:p>
        </p:txBody>
      </p:sp>
      <p:pic>
        <p:nvPicPr>
          <p:cNvPr id="4" name="Image 0" descr="/mnt/data/sr_project/CSE445_Sec7_Group04_SuperResolution/support/new_results/project_test_set/0107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08518"/>
            <a:ext cx="11018520" cy="29230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4526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4672" y="491947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SRCNN recovers sharper structure than bicubic and gives the largest PSNR gain in the test set.</a:t>
            </a:r>
            <a:endParaRPr lang="en-US" sz="1680" dirty="0"/>
          </a:p>
        </p:txBody>
      </p:sp>
      <p:sp>
        <p:nvSpPr>
          <p:cNvPr id="7" name="Text 4"/>
          <p:cNvSpPr/>
          <p:nvPr/>
        </p:nvSpPr>
        <p:spPr>
          <a:xfrm>
            <a:off x="4709160" y="4526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gain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09160" y="49194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Bicubic: 21.96 dB</a:t>
            </a:r>
            <a:endParaRPr lang="en-US" sz="1680" dirty="0"/>
          </a:p>
          <a:p>
            <a:pPr indent="0" marL="0">
              <a:buNone/>
            </a:pPr>
            <a:r>
              <a:rPr lang="en-US" sz="16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SRCNN: 24.59 dB</a:t>
            </a:r>
            <a:endParaRPr lang="en-US" sz="1680" dirty="0"/>
          </a:p>
          <a:p>
            <a:pPr indent="0" marL="0">
              <a:buNone/>
            </a:pPr>
            <a:r>
              <a:rPr lang="en-US" sz="16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Gain: +2.63 dB</a:t>
            </a:r>
            <a:endParaRPr lang="en-US" sz="1680" dirty="0"/>
          </a:p>
        </p:txBody>
      </p:sp>
      <p:sp>
        <p:nvSpPr>
          <p:cNvPr id="9" name="Text 6"/>
          <p:cNvSpPr/>
          <p:nvPr/>
        </p:nvSpPr>
        <p:spPr>
          <a:xfrm>
            <a:off x="7818120" y="4526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interpretation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18120" y="491947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improves the degraded image, but it still cannot fully reproduce the original HR reference.</a:t>
            </a:r>
            <a:endParaRPr lang="en-US" sz="1680" dirty="0"/>
          </a:p>
        </p:txBody>
      </p:sp>
      <p:sp>
        <p:nvSpPr>
          <p:cNvPr id="11" name="Shape 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04 | Kazi Eraj Al Minahi Turjo • Shamira Hossain Mila • Salman Khan Fahim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9509760" y="6519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CSE445 • Section 07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image set: presentation and stress testing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images make the project visually different and also test how the model behaves outside the original distribution.</a:t>
            </a:r>
            <a:endParaRPr lang="en-US" sz="1280" dirty="0"/>
          </a:p>
        </p:txBody>
      </p:sp>
      <p:pic>
        <p:nvPicPr>
          <p:cNvPr id="4" name="Image 0" descr="/mnt/data/sr_project/CSE445_Sec7_Group04_SuperResolution/support/custom_evaluation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29411"/>
            <a:ext cx="6583680" cy="33328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1508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set was added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35240" y="190195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old report images were replaced with a much broader set: car, tiger, pizza, glass tower, macaw, mountain lake, watch and astronaut.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635240" y="3337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stress test showed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35240" y="373075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these unfamiliar images, bicubic often scores higher. This is not a failure to hide; it is a valid ML limitation caused by domain shift.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635240" y="5074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takeaway: SRCNN improves the project-test distribution, but larger and more diverse training data is needed for stronger generalization.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04 | Kazi Eraj Al Minahi Turjo • Shamira Hossain Mila • Salman Khan Fahim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9509760" y="6519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CSE445 • Section 07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456" y="0"/>
            <a:ext cx="146304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0"/>
            <a:ext cx="91440" cy="6858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4754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0876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Limitations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43434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dataset limits generalization</a:t>
            </a:r>
            <a:endParaRPr lang="en-US" sz="1670" dirty="0"/>
          </a:p>
          <a:p>
            <a:r>
              <a:rPr lang="en-US" sz="1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works best on the trained image style</a:t>
            </a:r>
            <a:endParaRPr lang="en-US" sz="1670" dirty="0"/>
          </a:p>
          <a:p>
            <a:r>
              <a:rPr lang="en-US" sz="1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PSNR does not always match human visual quality</a:t>
            </a:r>
            <a:endParaRPr lang="en-US" sz="1670" dirty="0"/>
          </a:p>
          <a:p>
            <a:r>
              <a:rPr lang="en-US" sz="1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new demo images are too different from training data</a:t>
            </a:r>
            <a:endParaRPr lang="en-US" sz="1670" dirty="0"/>
          </a:p>
        </p:txBody>
      </p:sp>
      <p:sp>
        <p:nvSpPr>
          <p:cNvPr id="8" name="Text 6"/>
          <p:cNvSpPr/>
          <p:nvPr/>
        </p:nvSpPr>
        <p:spPr>
          <a:xfrm>
            <a:off x="640080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Future Work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44805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larger and more diverse dataset</a:t>
            </a:r>
            <a:endParaRPr lang="en-US" sz="1670" dirty="0"/>
          </a:p>
          <a:p>
            <a:r>
              <a:rPr lang="en-US" sz="1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with VDSR, EDSR or ESRGAN</a:t>
            </a:r>
            <a:endParaRPr lang="en-US" sz="1670" dirty="0"/>
          </a:p>
          <a:p>
            <a:r>
              <a:rPr lang="en-US" sz="1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SSIM/perceptual quality metrics</a:t>
            </a:r>
            <a:endParaRPr lang="en-US" sz="1670" dirty="0"/>
          </a:p>
          <a:p>
            <a:r>
              <a:rPr lang="en-US" sz="1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simple interface for real image testing</a:t>
            </a:r>
            <a:endParaRPr lang="en-US" sz="1670" dirty="0"/>
          </a:p>
        </p:txBody>
      </p:sp>
      <p:pic>
        <p:nvPicPr>
          <p:cNvPr id="10" name="Image 0" descr="/mnt/data/sr_project/CSE445_Sec7_Group04_SuperResolution/support/presentation_ready/0102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4040201"/>
            <a:ext cx="4526280" cy="1200759"/>
          </a:xfrm>
          <a:prstGeom prst="rect">
            <a:avLst/>
          </a:prstGeom>
        </p:spPr>
      </p:pic>
      <p:pic>
        <p:nvPicPr>
          <p:cNvPr id="11" name="Image 1" descr="/mnt/data/sr_project/CSE445_Sec7_Group04_SuperResolution/support/presentation_ready/astronaut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040201"/>
            <a:ext cx="4526280" cy="12007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46811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Project test-set example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00800" y="546811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Different-domain stress test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097280" y="6519672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04 | Kazi Eraj Al Minahi Turjo • Shamira Hossain Mila • Salman Khan Fahim | CSE445 • Section 07</a:t>
            </a:r>
            <a:endParaRPr lang="en-US" sz="7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456" y="0"/>
            <a:ext cx="146304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0"/>
            <a:ext cx="91440" cy="6858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4754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pic>
        <p:nvPicPr>
          <p:cNvPr id="6" name="Image 0" descr="/mnt/data/sr_project/CSE445_Sec7_Group04_SuperResolution/support/new_results/project_test_set/0107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023854"/>
            <a:ext cx="4389120" cy="11643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4447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11827"/>
                </a:solidFill>
              </a:rPr>
              <a:t>SRCNN successfully improved: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645920" y="1874520"/>
            <a:ext cx="4617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test PSNR: 23.05 dB → 24.07 dB</a:t>
            </a:r>
            <a:endParaRPr lang="en-US" sz="1680" dirty="0"/>
          </a:p>
          <a:p>
            <a:r>
              <a:rPr lang="en-US" sz="16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visual/test improvement: +2.63 dB</a:t>
            </a:r>
            <a:endParaRPr lang="en-US" sz="1680" dirty="0"/>
          </a:p>
          <a:p>
            <a:r>
              <a:rPr lang="en-US" sz="16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Sharper edges and textures than bicubic interpolation</a:t>
            </a:r>
            <a:endParaRPr lang="en-US" sz="1680" dirty="0"/>
          </a:p>
          <a:p>
            <a:r>
              <a:rPr lang="en-US" sz="16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pipeline from LR input to evaluation output</a:t>
            </a:r>
            <a:endParaRPr lang="en-US" sz="1680" dirty="0"/>
          </a:p>
        </p:txBody>
      </p:sp>
      <p:sp>
        <p:nvSpPr>
          <p:cNvPr id="9" name="Text 6"/>
          <p:cNvSpPr/>
          <p:nvPr/>
        </p:nvSpPr>
        <p:spPr>
          <a:xfrm>
            <a:off x="1554480" y="3977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11827"/>
                </a:solidFill>
              </a:rPr>
              <a:t>Final message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645920" y="44348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shows that a small CNN can learn useful image-restoration patterns, but stronger real-world performance needs larger training data and deeper super-resolution models.</a:t>
            </a:r>
            <a:endParaRPr lang="en-US" sz="1720" dirty="0"/>
          </a:p>
        </p:txBody>
      </p:sp>
      <p:sp>
        <p:nvSpPr>
          <p:cNvPr id="11" name="Text 8"/>
          <p:cNvSpPr/>
          <p:nvPr/>
        </p:nvSpPr>
        <p:spPr>
          <a:xfrm>
            <a:off x="6720840" y="3867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Best test-set comparison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97280" y="6519672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04 | Kazi Eraj Al Minahi Turjo • Shamira Hossain Mila • Salman Khan Fahim | CSE445 • Section 07</a:t>
            </a:r>
            <a:endParaRPr lang="en-US" sz="7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456" y="0"/>
            <a:ext cx="146304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0"/>
            <a:ext cx="91440" cy="6858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0" y="23317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343400" y="3840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6519672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04 | Kazi Eraj Al Minahi Turjo • Shamira Hossain Mila • Salman Khan Fahim | CSE445 • Section 07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North South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Single-Image Super-Resolution Using SRCNN</dc:title>
  <dc:subject>SRCNN Image Super-Resolution</dc:subject>
  <dc:creator>CSE445 Section 07 Group 04</dc:creator>
  <cp:lastModifiedBy>CSE445 Section 07 Group 04</cp:lastModifiedBy>
  <cp:revision>1</cp:revision>
  <dcterms:created xsi:type="dcterms:W3CDTF">2026-08-19T14:35:52Z</dcterms:created>
  <dcterms:modified xsi:type="dcterms:W3CDTF">2026-08-19T14:35:52Z</dcterms:modified>
</cp:coreProperties>
</file>